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2F4BC-27F8-F673-DB60-BA2B5E1AE3D0}" v="30" dt="2025-05-12T16:08:29.842"/>
    <p1510:client id="{4F93B6B7-A23E-7D58-941E-A98CCC5E39C1}" v="13" dt="2025-05-12T16:10:24.321"/>
    <p1510:client id="{90376450-A5EF-86BB-2A21-1BDD49C39054}" v="101" dt="2025-05-12T16:53:24.2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2ECCC2-01F3-5C23-E0BD-908316378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A07B1FB-5EE0-9A64-B9BE-8A1502503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1EE5DD-B173-6B30-8D03-874F1291B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A04B-0B3D-4172-AB4D-C7ED47F928B0}" type="datetimeFigureOut">
              <a:rPr lang="zh-TW" altLang="en-US" smtClean="0"/>
              <a:t>2025/5/13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4C2250-F0C6-6F06-60E0-E8D5ECDE8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A7D32A-CCDE-41B3-0AF6-989C184F8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3022-800E-40C8-9B19-FE46F2E670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2705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257748-875F-4E76-A50B-70BC39F64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574D14-6E12-DA15-9AF8-7DC864B9A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356AA1-3D5F-A7DB-5C73-41FC2930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A04B-0B3D-4172-AB4D-C7ED47F928B0}" type="datetimeFigureOut">
              <a:rPr lang="zh-TW" altLang="en-US" smtClean="0"/>
              <a:t>2025/5/13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E9BEB47-25DF-AF89-AA32-9C9B174D4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0639D8-5CD0-7CB9-1B18-E25FAA168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3022-800E-40C8-9B19-FE46F2E670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3363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389951-2CA3-E0D6-B3A7-02CE9B192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73D1E70-2856-6ABE-5BD0-83E473541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26710A9-C8E6-27B9-8196-95676321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A04B-0B3D-4172-AB4D-C7ED47F928B0}" type="datetimeFigureOut">
              <a:rPr lang="zh-TW" altLang="en-US" smtClean="0"/>
              <a:t>2025/5/13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674DEF-24D6-AF8C-CFD0-4A30D99C9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3FE307-342C-97F4-6379-E925168E3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3022-800E-40C8-9B19-FE46F2E670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7476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C23A4E-7835-D89E-92EE-D6AF2182B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B36B03-4D29-97CD-0D86-9976B61D5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D3A2B93-0050-2B23-B2F4-3CFE170E2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58A312D-CCD7-9AAB-130B-98044B1DE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A04B-0B3D-4172-AB4D-C7ED47F928B0}" type="datetimeFigureOut">
              <a:rPr lang="zh-TW" altLang="en-US" smtClean="0"/>
              <a:t>2025/5/13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22DB3E-72D2-6E05-B970-5203A119F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1016A97-E7FF-2B54-F09B-D1CC6E2B1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3022-800E-40C8-9B19-FE46F2E670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140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7736B4-5888-FF5B-E36F-0C784531D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81B54F-AC2D-CE92-F4EC-1254C45F1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E7E49CC-3FD4-464C-3012-0943052DA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E743B6D-EE7B-4639-7CD3-EB893B775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433F281-CE97-13C9-CD84-7C636D8E4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B3291A3-127F-67A1-FE93-5D863ADE9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A04B-0B3D-4172-AB4D-C7ED47F928B0}" type="datetimeFigureOut">
              <a:rPr lang="zh-TW" altLang="en-US" smtClean="0"/>
              <a:t>2025/5/13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3BD7658-868A-A6CC-52F1-D9F083935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72EC68C-482D-2967-6DA6-F1CF6596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3022-800E-40C8-9B19-FE46F2E670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1156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2574E5-FAF5-8BFE-114B-8BB30B8A9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B751774-CE05-D34D-BADF-5360E9D87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A04B-0B3D-4172-AB4D-C7ED47F928B0}" type="datetimeFigureOut">
              <a:rPr lang="zh-TW" altLang="en-US" smtClean="0"/>
              <a:t>2025/5/13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0FB126B-C1A3-7C88-690E-A259C21CB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F5E8632-2B45-F6B0-DCA7-C995470EE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3022-800E-40C8-9B19-FE46F2E670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4250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CE4B04A-2E17-0BA4-559D-A05D4E9D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A04B-0B3D-4172-AB4D-C7ED47F928B0}" type="datetimeFigureOut">
              <a:rPr lang="zh-TW" altLang="en-US" smtClean="0"/>
              <a:t>2025/5/13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F9EC2F6-D5E9-8EED-D050-0DAE3051F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BF7B17-5DB0-56A5-021C-6B0B5678A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3022-800E-40C8-9B19-FE46F2E670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1577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6CEFEA-69F9-0B8F-CE13-2EFC54BF5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667227-BDA6-6F1C-2265-701234D72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0D37222-A258-72AA-3062-ECD6EAE8A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4B3F98C-BDEB-FC80-1E80-164432442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A04B-0B3D-4172-AB4D-C7ED47F928B0}" type="datetimeFigureOut">
              <a:rPr lang="zh-TW" altLang="en-US" smtClean="0"/>
              <a:t>2025/5/13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6CC82D3-FF88-A142-9BBF-45FA15D35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66D758E-3233-3611-2D83-32505FE2B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3022-800E-40C8-9B19-FE46F2E670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7175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F73496-596C-8A3D-E068-44A181AED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9E15919-32E0-FA47-120B-E5A232A39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2943003-B9FD-0DB7-6D6C-C026F9C4A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E0FA806-638B-05C2-A50E-EDCE0D16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A04B-0B3D-4172-AB4D-C7ED47F928B0}" type="datetimeFigureOut">
              <a:rPr lang="zh-TW" altLang="en-US" smtClean="0"/>
              <a:t>2025/5/13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0405001-927B-0F91-EFF3-B84EB1794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3F4857A-F6B9-4C45-FF81-5148D4C1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3022-800E-40C8-9B19-FE46F2E670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799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F06DAA-6A7A-6F74-EEFE-0E8E1D9A4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3781710-2F67-3DE6-5D5C-C669DEE4E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C79B9B3-AB39-8785-29BE-56844E3B2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A04B-0B3D-4172-AB4D-C7ED47F928B0}" type="datetimeFigureOut">
              <a:rPr lang="zh-TW" altLang="en-US" smtClean="0"/>
              <a:t>2025/5/13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0C492A-CBCB-ADE6-9F68-332D59A5F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0B6CFF5-5089-C186-02CC-4C2A8AC89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3022-800E-40C8-9B19-FE46F2E670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9840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43B29BC-3659-0218-5466-7395AA87EB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6A84EA1-D206-131E-45E7-1AE998C1D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50142F-B29B-2A4E-05AA-34680EA57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7A04B-0B3D-4172-AB4D-C7ED47F928B0}" type="datetimeFigureOut">
              <a:rPr lang="zh-TW" altLang="en-US" smtClean="0"/>
              <a:t>2025/5/13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FABA3B-FABC-18D3-3A5F-7097BACE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4D84E8-56B8-5D58-2802-E5424074F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D3022-800E-40C8-9B19-FE46F2E670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6238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D13A5EF-686B-F32F-51FB-046883019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187A13-01BF-45B7-E12E-D79B032F3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1FCE51A-E225-5C82-DB3A-A5119D936F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97A04B-0B3D-4172-AB4D-C7ED47F928B0}" type="datetimeFigureOut">
              <a:rPr lang="zh-TW" altLang="en-US" smtClean="0"/>
              <a:t>2025/5/13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2C66C4-97EF-CE81-4F05-92E926710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A110C0-735D-7A1F-F986-133A56B28D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D3022-800E-40C8-9B19-FE46F2E6706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6301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E9B848-4963-AF1C-5645-84435A799D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4400">
                <a:ea typeface="新細明體"/>
              </a:rPr>
              <a:t>Tkinter打字遊戲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2A538C0-3B17-870E-8651-E9A50B53CB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>
                <a:ea typeface="新細明體"/>
              </a:rPr>
              <a:t>S1154005李育林</a:t>
            </a:r>
            <a:endParaRPr lang="zh-TW" altLang="en-US">
              <a:ea typeface="新細明體" panose="02020500000000000000" pitchFamily="18" charset="-120"/>
            </a:endParaRPr>
          </a:p>
          <a:p>
            <a:r>
              <a:rPr lang="zh-TW" altLang="en-US">
                <a:ea typeface="新細明體"/>
              </a:rPr>
              <a:t>S1154002陳品璁</a:t>
            </a:r>
            <a:endParaRPr lang="zh-TW" altLang="en-US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19229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824A31-4BB3-C854-ACD5-2B03A4515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533" y="389315"/>
            <a:ext cx="10515600" cy="1325563"/>
          </a:xfrm>
        </p:spPr>
        <p:txBody>
          <a:bodyPr/>
          <a:lstStyle/>
          <a:p>
            <a:r>
              <a:rPr lang="zh-TW" altLang="en-US">
                <a:ea typeface="新細明體"/>
              </a:rPr>
              <a:t>設計理念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3585AE-E17F-DD76-E1AE-E5AAE4364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2652"/>
            <a:ext cx="10515600" cy="493190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zh-TW" altLang="en-US"/>
              <a:t>遊戲規則簡述：</a:t>
            </a:r>
            <a:endParaRPr lang="zh-TW" altLang="en-US" sz="2000" dirty="0">
              <a:ea typeface="新細明體"/>
            </a:endParaRPr>
          </a:p>
          <a:p>
            <a:pPr>
              <a:buFont typeface="Arial"/>
              <a:buChar char="•"/>
            </a:pPr>
            <a:r>
              <a:rPr lang="zh-TW" altLang="en-US" sz="2000" b="1">
                <a:ea typeface="+mn-lt"/>
                <a:cs typeface="+mn-lt"/>
              </a:rPr>
              <a:t>選擇遊戲模式</a:t>
            </a:r>
            <a:r>
              <a:rPr lang="zh-TW" altLang="en-US" sz="2000">
                <a:ea typeface="+mn-lt"/>
                <a:cs typeface="+mn-lt"/>
              </a:rPr>
              <a:t>：</a:t>
            </a:r>
            <a:endParaRPr lang="zh-TW" altLang="en-US" sz="2000">
              <a:ea typeface="新細明體"/>
            </a:endParaRPr>
          </a:p>
          <a:p>
            <a:pPr lvl="1">
              <a:buFont typeface="Arial"/>
              <a:buChar char="•"/>
            </a:pPr>
            <a:r>
              <a:rPr lang="zh-TW" altLang="en-US" sz="2000">
                <a:ea typeface="+mn-lt"/>
                <a:cs typeface="+mn-lt"/>
              </a:rPr>
              <a:t>玩家可以選擇三種模式：</a:t>
            </a:r>
            <a:r>
              <a:rPr lang="zh-TW" altLang="en-US" sz="2000" b="1">
                <a:ea typeface="+mn-lt"/>
                <a:cs typeface="+mn-lt"/>
              </a:rPr>
              <a:t>符號模式</a:t>
            </a:r>
            <a:r>
              <a:rPr lang="zh-TW" altLang="en-US" sz="2000">
                <a:ea typeface="+mn-lt"/>
                <a:cs typeface="+mn-lt"/>
              </a:rPr>
              <a:t>（顯示符號字符）、</a:t>
            </a:r>
            <a:r>
              <a:rPr lang="zh-TW" altLang="en-US" sz="2000" b="1">
                <a:ea typeface="+mn-lt"/>
                <a:cs typeface="+mn-lt"/>
              </a:rPr>
              <a:t>字母模式</a:t>
            </a:r>
            <a:r>
              <a:rPr lang="zh-TW" altLang="en-US" sz="2000">
                <a:ea typeface="+mn-lt"/>
                <a:cs typeface="+mn-lt"/>
              </a:rPr>
              <a:t>（顯示英文字母）和</a:t>
            </a:r>
            <a:r>
              <a:rPr lang="zh-TW" altLang="en-US" sz="2000" b="1">
                <a:ea typeface="+mn-lt"/>
                <a:cs typeface="+mn-lt"/>
              </a:rPr>
              <a:t>混合模式</a:t>
            </a:r>
            <a:r>
              <a:rPr lang="zh-TW" altLang="en-US" sz="2000">
                <a:ea typeface="+mn-lt"/>
                <a:cs typeface="+mn-lt"/>
              </a:rPr>
              <a:t>（符號與字母交替顯示）。</a:t>
            </a:r>
            <a:endParaRPr lang="zh-TW" altLang="en-US" sz="2000">
              <a:ea typeface="新細明體"/>
            </a:endParaRPr>
          </a:p>
          <a:p>
            <a:pPr>
              <a:buFont typeface="Arial"/>
              <a:buChar char="•"/>
            </a:pPr>
            <a:r>
              <a:rPr lang="zh-TW" altLang="en-US" sz="2000" b="1">
                <a:ea typeface="+mn-lt"/>
                <a:cs typeface="+mn-lt"/>
              </a:rPr>
              <a:t>節奏與倒計時</a:t>
            </a:r>
            <a:r>
              <a:rPr lang="zh-TW" altLang="en-US" sz="2000">
                <a:ea typeface="+mn-lt"/>
                <a:cs typeface="+mn-lt"/>
              </a:rPr>
              <a:t>：</a:t>
            </a:r>
            <a:endParaRPr lang="zh-TW" altLang="en-US" sz="2000">
              <a:ea typeface="新細明體"/>
            </a:endParaRPr>
          </a:p>
          <a:p>
            <a:pPr lvl="1">
              <a:buFont typeface="Arial"/>
              <a:buChar char="•"/>
            </a:pPr>
            <a:r>
              <a:rPr lang="zh-TW" altLang="en-US" sz="2000">
                <a:ea typeface="+mn-lt"/>
                <a:cs typeface="+mn-lt"/>
              </a:rPr>
              <a:t>遊戲有一個固定的節奏，根據每分鐘節拍數（</a:t>
            </a:r>
            <a:r>
              <a:rPr lang="en-US" altLang="zh-TW" sz="2000" dirty="0">
                <a:ea typeface="+mn-lt"/>
                <a:cs typeface="+mn-lt"/>
              </a:rPr>
              <a:t>BPM</a:t>
            </a:r>
            <a:r>
              <a:rPr lang="zh-TW" altLang="en-US" sz="2000">
                <a:ea typeface="+mn-lt"/>
                <a:cs typeface="+mn-lt"/>
              </a:rPr>
              <a:t>）來控制符號出現的頻率與速度。玩家需要按照節奏按下對應的鍵盤按鍵。</a:t>
            </a:r>
            <a:endParaRPr lang="zh-TW" altLang="en-US" sz="2000">
              <a:ea typeface="新細明體"/>
            </a:endParaRPr>
          </a:p>
          <a:p>
            <a:pPr lvl="1">
              <a:buFont typeface="Arial"/>
              <a:buChar char="•"/>
            </a:pPr>
            <a:r>
              <a:rPr lang="zh-TW" altLang="en-US" sz="2000">
                <a:ea typeface="+mn-lt"/>
                <a:cs typeface="+mn-lt"/>
              </a:rPr>
              <a:t>隨著遊戲的進行，難度會逐漸增加，符號出現的速度會加快，考驗玩家的反應能力。</a:t>
            </a:r>
            <a:endParaRPr lang="zh-TW" altLang="en-US" sz="2000">
              <a:ea typeface="新細明體"/>
            </a:endParaRPr>
          </a:p>
          <a:p>
            <a:pPr>
              <a:buFont typeface="Arial"/>
              <a:buChar char="•"/>
            </a:pPr>
            <a:r>
              <a:rPr lang="zh-TW" altLang="en-US" sz="2000" b="1">
                <a:ea typeface="+mn-lt"/>
                <a:cs typeface="+mn-lt"/>
              </a:rPr>
              <a:t>輸入正確</a:t>
            </a:r>
            <a:r>
              <a:rPr lang="en-US" altLang="zh-TW" sz="2000" b="1" dirty="0">
                <a:ea typeface="+mn-lt"/>
                <a:cs typeface="+mn-lt"/>
              </a:rPr>
              <a:t>/</a:t>
            </a:r>
            <a:r>
              <a:rPr lang="zh-TW" altLang="en-US" sz="2000" b="1">
                <a:ea typeface="+mn-lt"/>
                <a:cs typeface="+mn-lt"/>
              </a:rPr>
              <a:t>錯誤的反應</a:t>
            </a:r>
            <a:r>
              <a:rPr lang="zh-TW" altLang="en-US" sz="2000">
                <a:ea typeface="+mn-lt"/>
                <a:cs typeface="+mn-lt"/>
              </a:rPr>
              <a:t>：</a:t>
            </a:r>
            <a:endParaRPr lang="zh-TW" altLang="en-US" sz="2000">
              <a:ea typeface="新細明體"/>
            </a:endParaRPr>
          </a:p>
          <a:p>
            <a:pPr lvl="1">
              <a:buFont typeface="Arial"/>
              <a:buChar char="•"/>
            </a:pPr>
            <a:r>
              <a:rPr lang="zh-TW" altLang="en-US" sz="2000">
                <a:ea typeface="+mn-lt"/>
                <a:cs typeface="+mn-lt"/>
              </a:rPr>
              <a:t>每當玩家輸入正確的符號時，會獲得積分並聽到正確音效。</a:t>
            </a:r>
            <a:endParaRPr lang="zh-TW" altLang="en-US" sz="2000">
              <a:ea typeface="新細明體"/>
            </a:endParaRPr>
          </a:p>
          <a:p>
            <a:pPr lvl="1">
              <a:buFont typeface="Arial"/>
              <a:buChar char="•"/>
            </a:pPr>
            <a:r>
              <a:rPr lang="zh-TW" altLang="en-US" sz="2000">
                <a:ea typeface="+mn-lt"/>
                <a:cs typeface="+mn-lt"/>
              </a:rPr>
              <a:t>如果輸入錯誤，會扣除一定的分數，並觸發錯誤音效，讓玩家立即反饋錯誤的結果。</a:t>
            </a:r>
            <a:endParaRPr lang="zh-TW" altLang="en-US"/>
          </a:p>
          <a:p>
            <a:pPr>
              <a:buFont typeface="Arial"/>
              <a:buChar char="•"/>
            </a:pPr>
            <a:endParaRPr lang="zh-TW" sz="2000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6278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395EE9-68B0-F424-A6B8-B216E2FDD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程式架構</a:t>
            </a: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5AD955-7BCE-D997-B719-E2AB974EF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4995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zh-TW" sz="2000" err="1">
                <a:ea typeface="+mn-lt"/>
                <a:cs typeface="+mn-lt"/>
              </a:rPr>
              <a:t>TypeBeatTrainerWindow</a:t>
            </a:r>
            <a:r>
              <a:rPr lang="zh-TW" altLang="en-US" sz="2000">
                <a:ea typeface="+mn-lt"/>
                <a:cs typeface="+mn-lt"/>
              </a:rPr>
              <a:t> 類別</a:t>
            </a:r>
            <a:endParaRPr lang="zh-TW" altLang="en-US" sz="2000">
              <a:ea typeface="新細明體"/>
            </a:endParaRPr>
          </a:p>
          <a:p>
            <a:pPr lvl="1"/>
            <a:r>
              <a:rPr lang="zh-TW" sz="2000">
                <a:ea typeface="+mn-lt"/>
                <a:cs typeface="+mn-lt"/>
              </a:rPr>
              <a:t>1. </a:t>
            </a:r>
            <a:r>
              <a:rPr lang="zh-TW" sz="2000" b="1">
                <a:ea typeface="+mn-lt"/>
                <a:cs typeface="+mn-lt"/>
              </a:rPr>
              <a:t>初始化與界面設置（</a:t>
            </a:r>
            <a:r>
              <a:rPr lang="zh-TW" sz="2000" b="1">
                <a:latin typeface="Consolas"/>
                <a:ea typeface="新細明體"/>
              </a:rPr>
              <a:t>__init__</a:t>
            </a:r>
            <a:r>
              <a:rPr lang="zh-TW" sz="2000" b="1">
                <a:ea typeface="+mn-lt"/>
                <a:cs typeface="+mn-lt"/>
              </a:rPr>
              <a:t> &amp; </a:t>
            </a:r>
            <a:r>
              <a:rPr lang="zh-TW" sz="2000" b="1">
                <a:latin typeface="Consolas"/>
                <a:ea typeface="新細明體"/>
              </a:rPr>
              <a:t>create_widgets</a:t>
            </a:r>
            <a:r>
              <a:rPr lang="zh-TW" sz="2000" b="1">
                <a:ea typeface="+mn-lt"/>
                <a:cs typeface="+mn-lt"/>
              </a:rPr>
              <a:t>）</a:t>
            </a:r>
          </a:p>
          <a:p>
            <a:pPr lvl="1"/>
            <a:r>
              <a:rPr lang="en-US" altLang="zh-TW" sz="2000" dirty="0">
                <a:ea typeface="+mn-lt"/>
                <a:cs typeface="+mn-lt"/>
              </a:rPr>
              <a:t>2.</a:t>
            </a:r>
            <a:r>
              <a:rPr lang="zh-TW" altLang="en-US" sz="2000">
                <a:ea typeface="+mn-lt"/>
                <a:cs typeface="+mn-lt"/>
              </a:rPr>
              <a:t> </a:t>
            </a:r>
            <a:r>
              <a:rPr lang="zh-TW" altLang="en-US" sz="2000" b="1">
                <a:ea typeface="+mn-lt"/>
                <a:cs typeface="+mn-lt"/>
              </a:rPr>
              <a:t>遊戲邏輯（</a:t>
            </a:r>
            <a:r>
              <a:rPr lang="en-US" altLang="zh-TW" sz="2000" b="1" dirty="0" err="1">
                <a:latin typeface="Consolas"/>
                <a:ea typeface="新細明體"/>
              </a:rPr>
              <a:t>start_game</a:t>
            </a:r>
            <a:r>
              <a:rPr lang="en-US" altLang="zh-TW" sz="2000" b="1" dirty="0">
                <a:ea typeface="+mn-lt"/>
                <a:cs typeface="+mn-lt"/>
              </a:rPr>
              <a:t>,</a:t>
            </a:r>
            <a:r>
              <a:rPr lang="zh-TW" altLang="en-US" sz="2000" b="1" dirty="0">
                <a:ea typeface="+mn-lt"/>
                <a:cs typeface="+mn-lt"/>
              </a:rPr>
              <a:t> </a:t>
            </a:r>
            <a:r>
              <a:rPr lang="en-US" altLang="zh-TW" sz="2000" b="1" dirty="0" err="1">
                <a:latin typeface="Consolas"/>
                <a:ea typeface="新細明體"/>
              </a:rPr>
              <a:t>spawn_beat</a:t>
            </a:r>
            <a:r>
              <a:rPr lang="en-US" altLang="zh-TW" sz="2000" b="1" dirty="0">
                <a:ea typeface="+mn-lt"/>
                <a:cs typeface="+mn-lt"/>
              </a:rPr>
              <a:t>,</a:t>
            </a:r>
            <a:r>
              <a:rPr lang="zh-TW" altLang="en-US" sz="2000" b="1" dirty="0">
                <a:ea typeface="+mn-lt"/>
                <a:cs typeface="+mn-lt"/>
              </a:rPr>
              <a:t> </a:t>
            </a:r>
            <a:r>
              <a:rPr lang="en-US" altLang="zh-TW" sz="2000" b="1" dirty="0" err="1">
                <a:latin typeface="Consolas"/>
                <a:ea typeface="新細明體"/>
              </a:rPr>
              <a:t>move_beats</a:t>
            </a:r>
            <a:r>
              <a:rPr lang="zh-TW" altLang="en-US" sz="2000" b="1">
                <a:ea typeface="+mn-lt"/>
                <a:cs typeface="+mn-lt"/>
              </a:rPr>
              <a:t>）</a:t>
            </a:r>
            <a:endParaRPr lang="zh-TW" altLang="en-US" sz="2000" b="1">
              <a:ea typeface="新細明體"/>
            </a:endParaRPr>
          </a:p>
          <a:p>
            <a:pPr lvl="1"/>
            <a:r>
              <a:rPr lang="zh-TW" sz="2000">
                <a:ea typeface="+mn-lt"/>
                <a:cs typeface="+mn-lt"/>
              </a:rPr>
              <a:t>3. </a:t>
            </a:r>
            <a:r>
              <a:rPr lang="zh-TW" sz="2000" b="1">
                <a:ea typeface="+mn-lt"/>
                <a:cs typeface="+mn-lt"/>
              </a:rPr>
              <a:t>用戶輸入處理（</a:t>
            </a:r>
            <a:r>
              <a:rPr lang="zh-TW" sz="2000" b="1">
                <a:latin typeface="Consolas"/>
                <a:ea typeface="新細明體"/>
              </a:rPr>
              <a:t>keypress_input</a:t>
            </a:r>
            <a:r>
              <a:rPr lang="zh-TW" sz="2000" b="1">
                <a:ea typeface="+mn-lt"/>
                <a:cs typeface="+mn-lt"/>
              </a:rPr>
              <a:t>）</a:t>
            </a:r>
            <a:endParaRPr lang="zh-TW" sz="2000" b="1">
              <a:ea typeface="新細明體"/>
            </a:endParaRPr>
          </a:p>
          <a:p>
            <a:pPr lvl="1"/>
            <a:r>
              <a:rPr lang="en-US" altLang="zh-TW" sz="2000" dirty="0">
                <a:ea typeface="+mn-lt"/>
                <a:cs typeface="+mn-lt"/>
              </a:rPr>
              <a:t>4.</a:t>
            </a:r>
            <a:r>
              <a:rPr lang="zh-TW" altLang="en-US" sz="2000">
                <a:ea typeface="+mn-lt"/>
                <a:cs typeface="+mn-lt"/>
              </a:rPr>
              <a:t> </a:t>
            </a:r>
            <a:r>
              <a:rPr lang="zh-TW" altLang="en-US" sz="2000" b="1">
                <a:ea typeface="+mn-lt"/>
                <a:cs typeface="+mn-lt"/>
              </a:rPr>
              <a:t>遊戲結束與反饋（</a:t>
            </a:r>
            <a:r>
              <a:rPr lang="en-US" altLang="zh-TW" sz="2000" b="1" dirty="0" err="1">
                <a:latin typeface="Consolas"/>
                <a:ea typeface="新細明體"/>
              </a:rPr>
              <a:t>end_game</a:t>
            </a:r>
            <a:r>
              <a:rPr lang="en-US" altLang="zh-TW" sz="2000" b="1" dirty="0">
                <a:ea typeface="+mn-lt"/>
                <a:cs typeface="+mn-lt"/>
              </a:rPr>
              <a:t>,</a:t>
            </a:r>
            <a:r>
              <a:rPr lang="zh-TW" altLang="en-US" sz="2000" b="1" dirty="0">
                <a:ea typeface="+mn-lt"/>
                <a:cs typeface="+mn-lt"/>
              </a:rPr>
              <a:t> </a:t>
            </a:r>
            <a:r>
              <a:rPr lang="en-US" altLang="zh-TW" sz="2000" b="1" dirty="0" err="1">
                <a:latin typeface="Consolas"/>
                <a:ea typeface="新細明體"/>
              </a:rPr>
              <a:t>show_feedback</a:t>
            </a:r>
            <a:r>
              <a:rPr lang="zh-TW" altLang="en-US" sz="2000" b="1">
                <a:ea typeface="+mn-lt"/>
                <a:cs typeface="+mn-lt"/>
              </a:rPr>
              <a:t>）</a:t>
            </a:r>
            <a:endParaRPr lang="zh-TW" altLang="en-US" sz="2000" b="1">
              <a:ea typeface="新細明體"/>
            </a:endParaRPr>
          </a:p>
          <a:p>
            <a:pPr lvl="1"/>
            <a:r>
              <a:rPr lang="zh-TW" sz="2000">
                <a:ea typeface="+mn-lt"/>
                <a:cs typeface="+mn-lt"/>
              </a:rPr>
              <a:t>5. </a:t>
            </a:r>
            <a:r>
              <a:rPr lang="zh-TW" sz="2000" b="1">
                <a:ea typeface="+mn-lt"/>
                <a:cs typeface="+mn-lt"/>
              </a:rPr>
              <a:t>控制與難度設置（</a:t>
            </a:r>
            <a:r>
              <a:rPr lang="zh-TW" sz="2000" b="1">
                <a:latin typeface="Consolas"/>
                <a:ea typeface="新細明體"/>
              </a:rPr>
              <a:t>set_bpm</a:t>
            </a:r>
            <a:r>
              <a:rPr lang="zh-TW" sz="2000" b="1">
                <a:ea typeface="+mn-lt"/>
                <a:cs typeface="+mn-lt"/>
              </a:rPr>
              <a:t>, </a:t>
            </a:r>
            <a:r>
              <a:rPr lang="zh-TW" sz="2000" b="1">
                <a:latin typeface="Consolas"/>
                <a:ea typeface="新細明體"/>
              </a:rPr>
              <a:t>disable_controls</a:t>
            </a:r>
            <a:r>
              <a:rPr lang="zh-TW" sz="2000" b="1">
                <a:ea typeface="+mn-lt"/>
                <a:cs typeface="+mn-lt"/>
              </a:rPr>
              <a:t>,</a:t>
            </a:r>
            <a:r>
              <a:rPr lang="zh-TW" altLang="en-US" sz="2000" b="1">
                <a:latin typeface="Aptos"/>
                <a:ea typeface="新細明體"/>
              </a:rPr>
              <a:t> </a:t>
            </a:r>
            <a:r>
              <a:rPr lang="zh-TW" sz="2000" b="1">
                <a:latin typeface="Consolas"/>
                <a:ea typeface="新細明體"/>
              </a:rPr>
              <a:t>enable_controls</a:t>
            </a:r>
            <a:r>
              <a:rPr lang="zh-TW" sz="2000" b="1">
                <a:ea typeface="+mn-lt"/>
                <a:cs typeface="+mn-lt"/>
              </a:rPr>
              <a:t>）</a:t>
            </a:r>
            <a:endParaRPr lang="zh-TW" altLang="en-US" sz="2000" b="1">
              <a:ea typeface="新細明體"/>
            </a:endParaRPr>
          </a:p>
          <a:p>
            <a:pPr marL="0" indent="0">
              <a:buNone/>
            </a:pPr>
            <a:r>
              <a:rPr lang="zh-TW" sz="2000">
                <a:ea typeface="新細明體"/>
              </a:rPr>
              <a:t>類別結構總結：</a:t>
            </a:r>
            <a:endParaRPr lang="zh-TW" altLang="en-US" sz="2000">
              <a:ea typeface="新細明體"/>
            </a:endParaRPr>
          </a:p>
          <a:p>
            <a:r>
              <a:rPr lang="zh-TW" sz="2000" b="1">
                <a:ea typeface="+mn-lt"/>
                <a:cs typeface="+mn-lt"/>
              </a:rPr>
              <a:t>UI 顯示層</a:t>
            </a:r>
            <a:r>
              <a:rPr lang="zh-TW" sz="2000">
                <a:ea typeface="+mn-lt"/>
                <a:cs typeface="+mn-lt"/>
              </a:rPr>
              <a:t>：</a:t>
            </a:r>
            <a:r>
              <a:rPr lang="zh-TW" sz="2000">
                <a:latin typeface="Consolas"/>
                <a:ea typeface="新細明體"/>
              </a:rPr>
              <a:t>create_widgets</a:t>
            </a:r>
            <a:r>
              <a:rPr lang="zh-TW" sz="2000">
                <a:ea typeface="+mn-lt"/>
                <a:cs typeface="+mn-lt"/>
              </a:rPr>
              <a:t> 負責創建所有用戶界面部件，並使用 </a:t>
            </a:r>
            <a:r>
              <a:rPr lang="zh-TW" sz="2000">
                <a:latin typeface="Consolas"/>
                <a:ea typeface="新細明體"/>
              </a:rPr>
              <a:t>tkinter</a:t>
            </a:r>
            <a:r>
              <a:rPr lang="zh-TW" sz="2000">
                <a:ea typeface="+mn-lt"/>
                <a:cs typeface="+mn-lt"/>
              </a:rPr>
              <a:t> 顯示。</a:t>
            </a:r>
            <a:endParaRPr lang="zh-TW" sz="2000">
              <a:ea typeface="新細明體"/>
            </a:endParaRPr>
          </a:p>
          <a:p>
            <a:r>
              <a:rPr lang="zh-TW" sz="2000" b="1">
                <a:ea typeface="+mn-lt"/>
                <a:cs typeface="+mn-lt"/>
              </a:rPr>
              <a:t>遊戲邏輯層</a:t>
            </a:r>
            <a:r>
              <a:rPr lang="zh-TW" sz="2000">
                <a:ea typeface="+mn-lt"/>
                <a:cs typeface="+mn-lt"/>
              </a:rPr>
              <a:t>：</a:t>
            </a:r>
            <a:r>
              <a:rPr lang="zh-TW" sz="2000">
                <a:latin typeface="Consolas"/>
                <a:ea typeface="新細明體"/>
              </a:rPr>
              <a:t>start_game</a:t>
            </a:r>
            <a:r>
              <a:rPr lang="zh-TW" sz="2000">
                <a:ea typeface="+mn-lt"/>
                <a:cs typeface="+mn-lt"/>
              </a:rPr>
              <a:t>, </a:t>
            </a:r>
            <a:r>
              <a:rPr lang="zh-TW" sz="2000">
                <a:latin typeface="Consolas"/>
                <a:ea typeface="新細明體"/>
              </a:rPr>
              <a:t>spawn_beat</a:t>
            </a:r>
            <a:r>
              <a:rPr lang="zh-TW" sz="2000">
                <a:ea typeface="+mn-lt"/>
                <a:cs typeface="+mn-lt"/>
              </a:rPr>
              <a:t>, </a:t>
            </a:r>
            <a:r>
              <a:rPr lang="zh-TW" sz="2000">
                <a:latin typeface="Consolas"/>
                <a:ea typeface="新細明體"/>
              </a:rPr>
              <a:t>move_beats</a:t>
            </a:r>
            <a:r>
              <a:rPr lang="zh-TW" sz="2000">
                <a:ea typeface="+mn-lt"/>
                <a:cs typeface="+mn-lt"/>
              </a:rPr>
              <a:t> 負責遊戲的運行與符號生成、移動。</a:t>
            </a:r>
            <a:endParaRPr lang="zh-TW" sz="2000">
              <a:ea typeface="新細明體"/>
            </a:endParaRPr>
          </a:p>
          <a:p>
            <a:r>
              <a:rPr lang="zh-TW" sz="2000" b="1">
                <a:ea typeface="+mn-lt"/>
                <a:cs typeface="+mn-lt"/>
              </a:rPr>
              <a:t>事件處理層</a:t>
            </a:r>
            <a:r>
              <a:rPr lang="zh-TW" sz="2000">
                <a:ea typeface="+mn-lt"/>
                <a:cs typeface="+mn-lt"/>
              </a:rPr>
              <a:t>：</a:t>
            </a:r>
            <a:r>
              <a:rPr lang="zh-TW" sz="2000">
                <a:latin typeface="Consolas"/>
                <a:ea typeface="新細明體"/>
              </a:rPr>
              <a:t>keypress_input</a:t>
            </a:r>
            <a:r>
              <a:rPr lang="zh-TW" sz="2000">
                <a:ea typeface="+mn-lt"/>
                <a:cs typeface="+mn-lt"/>
              </a:rPr>
              <a:t> 處理用戶鍵盤輸入，並與遊戲邏輯交互。</a:t>
            </a:r>
            <a:endParaRPr lang="zh-TW" sz="2000">
              <a:ea typeface="新細明體"/>
            </a:endParaRPr>
          </a:p>
          <a:p>
            <a:r>
              <a:rPr lang="zh-TW" sz="2000" b="1">
                <a:ea typeface="+mn-lt"/>
                <a:cs typeface="+mn-lt"/>
              </a:rPr>
              <a:t>反饋與結束層</a:t>
            </a:r>
            <a:r>
              <a:rPr lang="zh-TW" sz="2000">
                <a:ea typeface="+mn-lt"/>
                <a:cs typeface="+mn-lt"/>
              </a:rPr>
              <a:t>：</a:t>
            </a:r>
            <a:r>
              <a:rPr lang="zh-TW" sz="2000">
                <a:latin typeface="Consolas"/>
                <a:ea typeface="新細明體"/>
              </a:rPr>
              <a:t>show_feedback</a:t>
            </a:r>
            <a:r>
              <a:rPr lang="zh-TW" sz="2000">
                <a:ea typeface="+mn-lt"/>
                <a:cs typeface="+mn-lt"/>
              </a:rPr>
              <a:t>, </a:t>
            </a:r>
            <a:r>
              <a:rPr lang="zh-TW" sz="2000">
                <a:latin typeface="Consolas"/>
                <a:ea typeface="新細明體"/>
              </a:rPr>
              <a:t>end_game</a:t>
            </a:r>
            <a:r>
              <a:rPr lang="zh-TW" sz="2000">
                <a:ea typeface="+mn-lt"/>
                <a:cs typeface="+mn-lt"/>
              </a:rPr>
              <a:t> 用於顯示用戶反饋與遊戲結束畫面。</a:t>
            </a:r>
            <a:endParaRPr lang="zh-TW" sz="2000">
              <a:ea typeface="新細明體"/>
            </a:endParaRPr>
          </a:p>
          <a:p>
            <a:endParaRPr lang="zh-TW" altLang="en-US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13197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B3FF22-5B2C-43C0-1A69-63780DE5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834"/>
          </a:xfrm>
        </p:spPr>
        <p:txBody>
          <a:bodyPr>
            <a:normAutofit fontScale="90000"/>
          </a:bodyPr>
          <a:lstStyle/>
          <a:p>
            <a:r>
              <a:rPr lang="zh-TW" altLang="en-US">
                <a:ea typeface="新細明體"/>
              </a:rPr>
              <a:t>函式庫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6FF275-602F-02D0-CD7A-76665FB35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3032"/>
            <a:ext cx="10515600" cy="513393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zh-TW" sz="1800" b="1">
                <a:latin typeface="Consolas"/>
                <a:ea typeface="新細明體"/>
              </a:rPr>
              <a:t>tkinter</a:t>
            </a:r>
            <a:r>
              <a:rPr lang="zh-TW" sz="1800">
                <a:ea typeface="新細明體"/>
              </a:rPr>
              <a:t> - 用於圖形化用戶界面 (GUI)</a:t>
            </a:r>
            <a:endParaRPr lang="zh-TW" altLang="en-US" sz="1800" dirty="0">
              <a:ea typeface="新細明體"/>
            </a:endParaRPr>
          </a:p>
          <a:p>
            <a:r>
              <a:rPr lang="zh-TW" sz="1800" b="1">
                <a:ea typeface="+mn-lt"/>
                <a:cs typeface="+mn-lt"/>
              </a:rPr>
              <a:t>視窗與畫布管理</a:t>
            </a:r>
            <a:r>
              <a:rPr lang="zh-TW" sz="1800">
                <a:ea typeface="+mn-lt"/>
                <a:cs typeface="+mn-lt"/>
              </a:rPr>
              <a:t>：</a:t>
            </a:r>
            <a:endParaRPr lang="zh-TW" sz="1800">
              <a:ea typeface="新細明體"/>
            </a:endParaRPr>
          </a:p>
          <a:p>
            <a:pPr lvl="1"/>
            <a:r>
              <a:rPr lang="zh-TW" sz="1800">
                <a:latin typeface="Consolas"/>
                <a:ea typeface="新細明體"/>
              </a:rPr>
              <a:t>tk.Tk()</a:t>
            </a:r>
            <a:r>
              <a:rPr lang="zh-TW" sz="1800">
                <a:ea typeface="+mn-lt"/>
                <a:cs typeface="+mn-lt"/>
              </a:rPr>
              <a:t> 用來創建主視窗，並設置視窗的屬性（如標題、大小等）。</a:t>
            </a:r>
            <a:endParaRPr lang="zh-TW" sz="1800">
              <a:ea typeface="新細明體"/>
            </a:endParaRPr>
          </a:p>
          <a:p>
            <a:pPr lvl="1"/>
            <a:r>
              <a:rPr lang="zh-TW" sz="1800">
                <a:latin typeface="Consolas"/>
                <a:ea typeface="新細明體"/>
              </a:rPr>
              <a:t>tk.Canvas()</a:t>
            </a:r>
            <a:r>
              <a:rPr lang="zh-TW" sz="1800">
                <a:ea typeface="+mn-lt"/>
                <a:cs typeface="+mn-lt"/>
              </a:rPr>
              <a:t> 用來創建畫布，並將其用作遊戲的顯示區域，所有遊戲元素（如文字、符號、背景等）都會被繪製到這個畫布上。</a:t>
            </a:r>
            <a:endParaRPr lang="zh-TW" sz="1800">
              <a:ea typeface="新細明體"/>
            </a:endParaRPr>
          </a:p>
          <a:p>
            <a:r>
              <a:rPr lang="zh-TW" sz="1800" b="1">
                <a:ea typeface="+mn-lt"/>
                <a:cs typeface="+mn-lt"/>
              </a:rPr>
              <a:t>控制元件</a:t>
            </a:r>
            <a:r>
              <a:rPr lang="zh-TW" sz="1800">
                <a:ea typeface="+mn-lt"/>
                <a:cs typeface="+mn-lt"/>
              </a:rPr>
              <a:t>：</a:t>
            </a:r>
            <a:endParaRPr lang="zh-TW" sz="1800">
              <a:ea typeface="新細明體"/>
            </a:endParaRPr>
          </a:p>
          <a:p>
            <a:pPr lvl="1"/>
            <a:r>
              <a:rPr lang="zh-TW" sz="1800">
                <a:ea typeface="+mn-lt"/>
                <a:cs typeface="+mn-lt"/>
              </a:rPr>
              <a:t>使用 </a:t>
            </a:r>
            <a:r>
              <a:rPr lang="zh-TW" sz="1800">
                <a:latin typeface="Consolas"/>
                <a:ea typeface="新細明體"/>
              </a:rPr>
              <a:t>tk.Scale()</a:t>
            </a:r>
            <a:r>
              <a:rPr lang="zh-TW" sz="1800">
                <a:ea typeface="+mn-lt"/>
                <a:cs typeface="+mn-lt"/>
              </a:rPr>
              <a:t> 來實現 BPM（每分鐘節拍數）的滑動條，玩家可以調整遊戲的節奏。</a:t>
            </a:r>
            <a:endParaRPr lang="zh-TW" sz="1800">
              <a:ea typeface="新細明體"/>
            </a:endParaRPr>
          </a:p>
          <a:p>
            <a:pPr lvl="1"/>
            <a:r>
              <a:rPr lang="zh-TW" sz="1800">
                <a:ea typeface="+mn-lt"/>
                <a:cs typeface="+mn-lt"/>
              </a:rPr>
              <a:t>使用 </a:t>
            </a:r>
            <a:r>
              <a:rPr lang="zh-TW" sz="1800">
                <a:latin typeface="Consolas"/>
                <a:ea typeface="新細明體"/>
              </a:rPr>
              <a:t>tk.Radiobutton()</a:t>
            </a:r>
            <a:r>
              <a:rPr lang="zh-TW" sz="1800">
                <a:ea typeface="+mn-lt"/>
                <a:cs typeface="+mn-lt"/>
              </a:rPr>
              <a:t> 實現選擇遊戲模式（符號、字母、混合模式）的單選按鈕。</a:t>
            </a:r>
            <a:endParaRPr lang="zh-TW" sz="1800">
              <a:ea typeface="新細明體"/>
            </a:endParaRPr>
          </a:p>
          <a:p>
            <a:pPr lvl="1"/>
            <a:r>
              <a:rPr lang="zh-TW" sz="1800">
                <a:ea typeface="+mn-lt"/>
                <a:cs typeface="+mn-lt"/>
              </a:rPr>
              <a:t>使用 </a:t>
            </a:r>
            <a:r>
              <a:rPr lang="zh-TW" sz="1800">
                <a:latin typeface="Consolas"/>
                <a:ea typeface="新細明體"/>
              </a:rPr>
              <a:t>tk.Button()</a:t>
            </a:r>
            <a:r>
              <a:rPr lang="zh-TW" sz="1800">
                <a:ea typeface="+mn-lt"/>
                <a:cs typeface="+mn-lt"/>
              </a:rPr>
              <a:t> 創建開始遊戲、回到菜單等控制按鈕。</a:t>
            </a:r>
            <a:endParaRPr lang="zh-TW" sz="1800">
              <a:ea typeface="新細明體"/>
            </a:endParaRPr>
          </a:p>
          <a:p>
            <a:pPr lvl="1"/>
            <a:r>
              <a:rPr lang="zh-TW" sz="1800">
                <a:ea typeface="+mn-lt"/>
                <a:cs typeface="+mn-lt"/>
              </a:rPr>
              <a:t>使用 </a:t>
            </a:r>
            <a:r>
              <a:rPr lang="zh-TW" sz="1800">
                <a:latin typeface="Consolas"/>
                <a:ea typeface="新細明體"/>
              </a:rPr>
              <a:t>tk.Label()</a:t>
            </a:r>
            <a:r>
              <a:rPr lang="zh-TW" sz="1800">
                <a:ea typeface="+mn-lt"/>
                <a:cs typeface="+mn-lt"/>
              </a:rPr>
              <a:t> 顯示分數和錯誤數量。</a:t>
            </a:r>
            <a:endParaRPr lang="zh-TW" sz="1800">
              <a:ea typeface="新細明體"/>
            </a:endParaRPr>
          </a:p>
          <a:p>
            <a:r>
              <a:rPr lang="zh-TW" sz="1800" b="1">
                <a:ea typeface="+mn-lt"/>
                <a:cs typeface="+mn-lt"/>
              </a:rPr>
              <a:t>事件處理</a:t>
            </a:r>
            <a:r>
              <a:rPr lang="zh-TW" sz="1800">
                <a:ea typeface="+mn-lt"/>
                <a:cs typeface="+mn-lt"/>
              </a:rPr>
              <a:t>：</a:t>
            </a:r>
            <a:endParaRPr lang="zh-TW" sz="1800">
              <a:ea typeface="新細明體"/>
            </a:endParaRPr>
          </a:p>
          <a:p>
            <a:pPr lvl="1"/>
            <a:r>
              <a:rPr lang="zh-TW" sz="1800">
                <a:latin typeface="Consolas"/>
                <a:ea typeface="新細明體"/>
              </a:rPr>
              <a:t>root.bind("&lt;Key&gt;", self.keypress_input)</a:t>
            </a:r>
            <a:r>
              <a:rPr lang="zh-TW" sz="1800">
                <a:ea typeface="+mn-lt"/>
                <a:cs typeface="+mn-lt"/>
              </a:rPr>
              <a:t> 用來捕捉鍵盤事件，當玩家按下鍵盤時觸發 </a:t>
            </a:r>
            <a:r>
              <a:rPr lang="zh-TW" sz="1800">
                <a:latin typeface="Consolas"/>
                <a:ea typeface="新細明體"/>
              </a:rPr>
              <a:t>keypress_input</a:t>
            </a:r>
            <a:r>
              <a:rPr lang="zh-TW" sz="1800">
                <a:ea typeface="+mn-lt"/>
                <a:cs typeface="+mn-lt"/>
              </a:rPr>
              <a:t> 方法。</a:t>
            </a:r>
            <a:endParaRPr lang="zh-TW" sz="1800">
              <a:ea typeface="新細明體"/>
            </a:endParaRPr>
          </a:p>
          <a:p>
            <a:pPr lvl="1"/>
            <a:r>
              <a:rPr lang="zh-TW" sz="1800">
                <a:latin typeface="Consolas"/>
                <a:ea typeface="新細明體"/>
              </a:rPr>
              <a:t>tk.messagebox.askyesno()</a:t>
            </a:r>
            <a:r>
              <a:rPr lang="zh-TW" sz="1800">
                <a:ea typeface="+mn-lt"/>
                <a:cs typeface="+mn-lt"/>
              </a:rPr>
              <a:t> 用來顯示確認對話框，提示玩家是否確定回到主菜單。</a:t>
            </a:r>
            <a:endParaRPr lang="zh-TW" sz="1800">
              <a:ea typeface="新細明體"/>
            </a:endParaRPr>
          </a:p>
          <a:p>
            <a:r>
              <a:rPr lang="zh-TW" sz="1800" b="1">
                <a:ea typeface="+mn-lt"/>
                <a:cs typeface="+mn-lt"/>
              </a:rPr>
              <a:t>布局管理</a:t>
            </a:r>
            <a:r>
              <a:rPr lang="zh-TW" sz="1800">
                <a:ea typeface="+mn-lt"/>
                <a:cs typeface="+mn-lt"/>
              </a:rPr>
              <a:t>：</a:t>
            </a:r>
            <a:endParaRPr lang="zh-TW" sz="1800">
              <a:ea typeface="新細明體"/>
            </a:endParaRPr>
          </a:p>
          <a:p>
            <a:pPr lvl="1"/>
            <a:r>
              <a:rPr lang="zh-TW" sz="1800">
                <a:ea typeface="+mn-lt"/>
                <a:cs typeface="+mn-lt"/>
              </a:rPr>
              <a:t>使用 </a:t>
            </a:r>
            <a:r>
              <a:rPr lang="zh-TW" sz="1800">
                <a:latin typeface="Consolas"/>
                <a:ea typeface="新細明體"/>
              </a:rPr>
              <a:t>tk.Frame()</a:t>
            </a:r>
            <a:r>
              <a:rPr lang="zh-TW" sz="1800">
                <a:ea typeface="+mn-lt"/>
                <a:cs typeface="+mn-lt"/>
              </a:rPr>
              <a:t> 和 </a:t>
            </a:r>
            <a:r>
              <a:rPr lang="zh-TW" sz="1800">
                <a:latin typeface="Consolas"/>
                <a:ea typeface="新細明體"/>
              </a:rPr>
              <a:t>tk.LabelFrame()</a:t>
            </a:r>
            <a:r>
              <a:rPr lang="zh-TW" sz="1800">
                <a:ea typeface="+mn-lt"/>
                <a:cs typeface="+mn-lt"/>
              </a:rPr>
              <a:t> 來組織和區分遊戲控制面板與遊戲顯示區域的布局。</a:t>
            </a:r>
            <a:endParaRPr lang="zh-TW" sz="1800">
              <a:ea typeface="新細明體"/>
            </a:endParaRPr>
          </a:p>
          <a:p>
            <a:pPr lvl="1"/>
            <a:r>
              <a:rPr lang="zh-TW" sz="1800">
                <a:latin typeface="Consolas"/>
                <a:ea typeface="新細明體"/>
              </a:rPr>
              <a:t>pack()</a:t>
            </a:r>
            <a:r>
              <a:rPr lang="zh-TW" sz="1800">
                <a:ea typeface="+mn-lt"/>
                <a:cs typeface="+mn-lt"/>
              </a:rPr>
              <a:t>, </a:t>
            </a:r>
            <a:r>
              <a:rPr lang="zh-TW" sz="1800">
                <a:latin typeface="Consolas"/>
                <a:ea typeface="新細明體"/>
              </a:rPr>
              <a:t>grid()</a:t>
            </a:r>
            <a:r>
              <a:rPr lang="zh-TW" sz="1800">
                <a:ea typeface="+mn-lt"/>
                <a:cs typeface="+mn-lt"/>
              </a:rPr>
              <a:t>, </a:t>
            </a:r>
            <a:r>
              <a:rPr lang="zh-TW" sz="1800">
                <a:latin typeface="Consolas"/>
                <a:ea typeface="新細明體"/>
              </a:rPr>
              <a:t>place()</a:t>
            </a:r>
            <a:r>
              <a:rPr lang="zh-TW" sz="1800">
                <a:ea typeface="+mn-lt"/>
                <a:cs typeface="+mn-lt"/>
              </a:rPr>
              <a:t> 用來管理各個元件的佈局和位置，確保界面美觀且使用方便。</a:t>
            </a:r>
            <a:endParaRPr lang="zh-TW" sz="1800">
              <a:ea typeface="新細明體"/>
            </a:endParaRPr>
          </a:p>
          <a:p>
            <a:endParaRPr lang="zh-TW" altLang="en-US" sz="1800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7223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CB77DE-4635-60B7-EB11-576137781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/>
              <a:t>函式庫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7E790B-4D2C-C473-C74D-A24C1BC0A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922"/>
            <a:ext cx="10515600" cy="42895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TW" sz="2000">
                <a:ea typeface="新細明體"/>
              </a:rPr>
              <a:t>2. </a:t>
            </a:r>
            <a:r>
              <a:rPr lang="zh-TW" sz="2000" b="1">
                <a:latin typeface="Consolas"/>
                <a:ea typeface="新細明體"/>
              </a:rPr>
              <a:t>random</a:t>
            </a:r>
            <a:r>
              <a:rPr lang="zh-TW" sz="2000">
                <a:ea typeface="新細明體"/>
              </a:rPr>
              <a:t> - 用於隨機生成遊戲元素</a:t>
            </a:r>
            <a:endParaRPr lang="zh-TW" altLang="en-US" sz="2000">
              <a:ea typeface="新細明體"/>
            </a:endParaRPr>
          </a:p>
          <a:p>
            <a:r>
              <a:rPr lang="zh-TW" sz="2000" b="1">
                <a:latin typeface="Consolas"/>
                <a:ea typeface="新細明體"/>
              </a:rPr>
              <a:t>random.choice()</a:t>
            </a:r>
            <a:r>
              <a:rPr lang="zh-TW" sz="2000">
                <a:ea typeface="+mn-lt"/>
                <a:cs typeface="+mn-lt"/>
              </a:rPr>
              <a:t>：用來從符號集（例如符號、字母或混合模式）中隨機選擇一個符號，並生成相應的遊戲元素（例如：符號、圖形）。</a:t>
            </a:r>
            <a:endParaRPr lang="zh-TW" sz="2000">
              <a:ea typeface="新細明體"/>
            </a:endParaRPr>
          </a:p>
          <a:p>
            <a:pPr lvl="1"/>
            <a:r>
              <a:rPr lang="zh-TW" sz="2000">
                <a:ea typeface="+mn-lt"/>
                <a:cs typeface="+mn-lt"/>
              </a:rPr>
              <a:t>在 </a:t>
            </a:r>
            <a:r>
              <a:rPr lang="zh-TW" sz="2000">
                <a:latin typeface="Consolas"/>
                <a:ea typeface="新細明體"/>
              </a:rPr>
              <a:t>spawn_beat()</a:t>
            </a:r>
            <a:r>
              <a:rPr lang="zh-TW" sz="2000">
                <a:ea typeface="+mn-lt"/>
                <a:cs typeface="+mn-lt"/>
              </a:rPr>
              <a:t> 方法中，</a:t>
            </a:r>
            <a:r>
              <a:rPr lang="zh-TW" sz="2000">
                <a:latin typeface="Consolas"/>
                <a:ea typeface="新細明體"/>
              </a:rPr>
              <a:t>random.choice(self.current_set)</a:t>
            </a:r>
            <a:r>
              <a:rPr lang="zh-TW" sz="2000">
                <a:ea typeface="+mn-lt"/>
                <a:cs typeface="+mn-lt"/>
              </a:rPr>
              <a:t> 會根據選擇的遊戲模式隨機選擇一個符號。</a:t>
            </a:r>
            <a:endParaRPr lang="zh-TW" sz="2000">
              <a:ea typeface="新細明體"/>
            </a:endParaRPr>
          </a:p>
          <a:p>
            <a:r>
              <a:rPr lang="zh-TW" sz="2000" b="1">
                <a:ea typeface="+mn-lt"/>
                <a:cs typeface="+mn-lt"/>
              </a:rPr>
              <a:t>符號隨機生成</a:t>
            </a:r>
            <a:r>
              <a:rPr lang="zh-TW" sz="2000">
                <a:ea typeface="+mn-lt"/>
                <a:cs typeface="+mn-lt"/>
              </a:rPr>
              <a:t>：隨機生成的符號會被用來顯示在遊戲畫布上，並且每個符號會有隨機的速度和位置，這樣每次遊戲都是不同的，增加了遊戲的趣味性和挑戰性。</a:t>
            </a:r>
            <a:endParaRPr lang="zh-TW" sz="2000">
              <a:ea typeface="新細明體"/>
            </a:endParaRPr>
          </a:p>
          <a:p>
            <a:r>
              <a:rPr lang="zh-TW" sz="2000" b="1">
                <a:latin typeface="Consolas"/>
                <a:ea typeface="新細明體"/>
              </a:rPr>
              <a:t>random</a:t>
            </a:r>
            <a:r>
              <a:rPr lang="zh-TW" sz="2000">
                <a:ea typeface="+mn-lt"/>
                <a:cs typeface="+mn-lt"/>
              </a:rPr>
              <a:t> 是處理隨機化遊戲內容的理想選擇。遊戲中每次生成的符號都需要隨機選擇，</a:t>
            </a:r>
            <a:r>
              <a:rPr lang="zh-TW" sz="2000">
                <a:latin typeface="Consolas"/>
                <a:ea typeface="新細明體"/>
              </a:rPr>
              <a:t>random.choice()</a:t>
            </a:r>
            <a:r>
              <a:rPr lang="zh-TW" sz="2000">
                <a:ea typeface="+mn-lt"/>
                <a:cs typeface="+mn-lt"/>
              </a:rPr>
              <a:t> 提供了一個簡單且高效的方式來實現這一功能。</a:t>
            </a:r>
            <a:endParaRPr lang="zh-TW" sz="2000">
              <a:ea typeface="新細明體"/>
            </a:endParaRPr>
          </a:p>
          <a:p>
            <a:endParaRPr lang="zh-TW" altLang="en-US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640800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3FD7DE-616F-3226-1DC1-922A3C63F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/>
              </a:rPr>
              <a:t>程式介紹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D4903A-D8DE-DB91-FA2C-6FC0199BF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zh-TW" altLang="en-US" dirty="0">
              <a:ea typeface="新細明體"/>
            </a:endParaRPr>
          </a:p>
          <a:p>
            <a:endParaRPr lang="zh-TW" dirty="0">
              <a:ea typeface="新細明體"/>
            </a:endParaRPr>
          </a:p>
          <a:p>
            <a:endParaRPr lang="zh-TW" dirty="0"/>
          </a:p>
          <a:p>
            <a:endParaRPr lang="zh-TW" altLang="en-US" dirty="0"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0740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1867B9-40CB-3F73-91DE-0B7403397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/>
              <a:t>程式介紹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52CF1C-CD36-2441-503D-9BD4751D5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8392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E03EE4-F7BA-E511-8204-1580BC728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3F3BDA2-7933-12C7-CE24-98C8F7C46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4267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872C5B-79E8-C01A-307A-29BCA1752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75D9222-9AEB-4CDA-7778-7806C2BC6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855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B07C37-EB87-695C-B449-10C95F65A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+mj-lt"/>
                <a:cs typeface="+mj-lt"/>
              </a:rPr>
              <a:t>困難與解決方法​</a:t>
            </a: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4F5D4B-627E-0E8B-7DD6-A037D92DA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2021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70CCD9-5B95-677F-0BFC-B41FB2CC5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ea typeface="新細明體"/>
              </a:rPr>
              <a:t>結論</a:t>
            </a:r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A709FD-2C7B-B368-4321-8E90C1E88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111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89EB4DDDDC3B384399913315AE997E0D" ma:contentTypeVersion="1" ma:contentTypeDescription="建立新的文件。" ma:contentTypeScope="" ma:versionID="d788414d6854b2ce5b2308f5fadd2aff">
  <xsd:schema xmlns:xsd="http://www.w3.org/2001/XMLSchema" xmlns:xs="http://www.w3.org/2001/XMLSchema" xmlns:p="http://schemas.microsoft.com/office/2006/metadata/properties" xmlns:ns3="836afccc-bdd6-4716-b4c3-269ed2042f69" targetNamespace="http://schemas.microsoft.com/office/2006/metadata/properties" ma:root="true" ma:fieldsID="1b76c2df9cc27f0c7cf4dd2e9db8bc9b" ns3:_="">
    <xsd:import namespace="836afccc-bdd6-4716-b4c3-269ed2042f6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6afccc-bdd6-4716-b4c3-269ed2042f6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CA29263-D285-4ADF-AAF7-11055269FA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6B415F-30EB-4EA8-9E6B-7090D91982BA}">
  <ds:schemaRefs>
    <ds:schemaRef ds:uri="http://www.w3.org/XML/1998/namespace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836afccc-bdd6-4716-b4c3-269ed2042f69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F534A0A-185F-49FB-9A25-3F51CA24738F}">
  <ds:schemaRefs>
    <ds:schemaRef ds:uri="836afccc-bdd6-4716-b4c3-269ed2042f6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786</Words>
  <Application>Microsoft Office PowerPoint</Application>
  <PresentationFormat>寬螢幕</PresentationFormat>
  <Paragraphs>53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新細明體</vt:lpstr>
      <vt:lpstr>Aptos</vt:lpstr>
      <vt:lpstr>Aptos Display</vt:lpstr>
      <vt:lpstr>Arial</vt:lpstr>
      <vt:lpstr>Consolas</vt:lpstr>
      <vt:lpstr>Office 佈景主題</vt:lpstr>
      <vt:lpstr>Tkinter打字遊戲</vt:lpstr>
      <vt:lpstr>設計理念</vt:lpstr>
      <vt:lpstr>程式架構</vt:lpstr>
      <vt:lpstr>函式庫</vt:lpstr>
      <vt:lpstr>函式庫</vt:lpstr>
      <vt:lpstr>程式介紹</vt:lpstr>
      <vt:lpstr>程式介紹</vt:lpstr>
      <vt:lpstr>PowerPoint 簡報</vt:lpstr>
      <vt:lpstr>PowerPoint 簡報</vt:lpstr>
      <vt:lpstr>困難與解決方法​</vt:lpstr>
      <vt:lpstr>結論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李育林</dc:creator>
  <cp:lastModifiedBy>李育林</cp:lastModifiedBy>
  <cp:revision>1</cp:revision>
  <dcterms:created xsi:type="dcterms:W3CDTF">2025-05-12T15:32:36Z</dcterms:created>
  <dcterms:modified xsi:type="dcterms:W3CDTF">2025-05-12T19:29:48Z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0x01010089EB4DDDDC3B384399913315AE997E0D</vt:lpwstr>
  </property>
</Properties>
</file>